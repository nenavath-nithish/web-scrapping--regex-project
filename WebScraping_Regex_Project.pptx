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60" r:id="rId4"/>
    <p:sldId id="261" r:id="rId5"/>
    <p:sldId id="262" r:id="rId6"/>
    <p:sldId id="287" r:id="rId7"/>
    <p:sldId id="268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67" r:id="rId27"/>
    <p:sldId id="283" r:id="rId28"/>
    <p:sldId id="284" r:id="rId29"/>
    <p:sldId id="285" r:id="rId30"/>
    <p:sldId id="286" r:id="rId31"/>
    <p:sldId id="259" r:id="rId32"/>
  </p:sldIdLst>
  <p:sldSz cx="12192000" cy="6858000"/>
  <p:notesSz cx="6858000" cy="9144000"/>
  <p:embeddedFontLst>
    <p:embeddedFont>
      <p:font typeface="Lato Black" panose="020F0502020204030203" pitchFamily="34" charset="0"/>
      <p:bold r:id="rId34"/>
      <p:boldItalic r:id="rId35"/>
    </p:embeddedFont>
    <p:embeddedFont>
      <p:font typeface="Libre Baskerville" panose="02000000000000000000" pitchFamily="2" charset="0"/>
      <p:regular r:id="rId36"/>
      <p:bold r:id="rId37"/>
      <p: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nenavath-nithish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and Exploratory Data Analysis on Flipkart Refrigerators</a:t>
            </a:r>
            <a:endParaRPr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9625388" cy="406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800" b="1" dirty="0"/>
              <a:t>Background ?</a:t>
            </a:r>
          </a:p>
          <a:p>
            <a:r>
              <a:rPr lang="en-US" sz="1800" b="1" dirty="0" err="1"/>
              <a:t>B.Tech</a:t>
            </a:r>
            <a:r>
              <a:rPr lang="en-US" sz="1800" b="1" dirty="0"/>
              <a:t> in Information Technology</a:t>
            </a:r>
            <a:endParaRPr lang="en-US" sz="1800" dirty="0"/>
          </a:p>
          <a:p>
            <a:r>
              <a:rPr lang="en-US" sz="2000" dirty="0"/>
              <a:t>Graduated (2021–2025)</a:t>
            </a:r>
          </a:p>
          <a:p>
            <a:r>
              <a:rPr lang="en-US" sz="2000" dirty="0"/>
              <a:t>B.V. Raju Institute of Technology , </a:t>
            </a:r>
            <a:r>
              <a:rPr lang="en-US" sz="2000" dirty="0" err="1"/>
              <a:t>Narsapur</a:t>
            </a:r>
            <a:endParaRPr lang="en-US" sz="2000" dirty="0"/>
          </a:p>
          <a:p>
            <a:endParaRPr lang="en-US" sz="1800" dirty="0"/>
          </a:p>
          <a:p>
            <a:r>
              <a:rPr lang="en-US" sz="1800" b="1" dirty="0"/>
              <a:t>Why I Want to Learn Data Science ?</a:t>
            </a:r>
          </a:p>
          <a:p>
            <a:r>
              <a:rPr lang="en-US" sz="1800" dirty="0"/>
              <a:t>To extract meaningful insights from real-world data</a:t>
            </a:r>
          </a:p>
          <a:p>
            <a:r>
              <a:rPr lang="en-US" sz="1800" dirty="0"/>
              <a:t>Strong interest in data analysis, machine learning, and problem-solving</a:t>
            </a:r>
          </a:p>
          <a:p>
            <a:r>
              <a:rPr lang="en-US" sz="1800" dirty="0"/>
              <a:t>To build a career as a </a:t>
            </a:r>
            <a:r>
              <a:rPr lang="en-US" sz="1800" b="1" dirty="0"/>
              <a:t>Data Scientist / Software Engineer</a:t>
            </a:r>
            <a:endParaRPr lang="en-US" sz="1800" dirty="0"/>
          </a:p>
          <a:p>
            <a:r>
              <a:rPr lang="en-US" sz="1800" dirty="0"/>
              <a:t>Passionate about working with data-driven decision-making systems</a:t>
            </a:r>
          </a:p>
          <a:p>
            <a:endParaRPr lang="en-US" sz="1800" b="1" dirty="0"/>
          </a:p>
          <a:p>
            <a:r>
              <a:rPr lang="en-US" sz="1800" b="1" dirty="0"/>
              <a:t>Profiles ?</a:t>
            </a:r>
          </a:p>
          <a:p>
            <a:r>
              <a:rPr lang="en-US" sz="1800" b="1" dirty="0"/>
              <a:t>LinkedIn:</a:t>
            </a:r>
            <a:r>
              <a:rPr lang="en-US" sz="1800" dirty="0"/>
              <a:t> </a:t>
            </a:r>
            <a:r>
              <a:rPr lang="en-US" sz="1800" dirty="0">
                <a:hlinkClick r:id="rId3"/>
              </a:rPr>
              <a:t>https://www.linkedin.com/in/nenavath-nithish</a:t>
            </a:r>
            <a:endParaRPr lang="en-US" sz="1800" dirty="0"/>
          </a:p>
          <a:p>
            <a:r>
              <a:rPr lang="en-US" sz="1800" b="1" dirty="0"/>
              <a:t>GitHub:</a:t>
            </a:r>
            <a:r>
              <a:rPr lang="en-US" sz="1800" dirty="0"/>
              <a:t> https://github.com/Nenavath-Nithish</a:t>
            </a: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25183-5B0E-A3D8-F248-9CAD1BEE5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4" y="365126"/>
            <a:ext cx="10371666" cy="31591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5CDD7-4067-3BE5-8728-F71ADC54C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05933"/>
            <a:ext cx="10515600" cy="5271030"/>
          </a:xfrm>
        </p:spPr>
        <p:txBody>
          <a:bodyPr>
            <a:normAutofit fontScale="62500" lnSpcReduction="20000"/>
          </a:bodyPr>
          <a:lstStyle/>
          <a:p>
            <a:r>
              <a:rPr lang="en-US" sz="3400" b="1" dirty="0"/>
              <a:t>Business Problem</a:t>
            </a:r>
          </a:p>
          <a:p>
            <a:r>
              <a:rPr lang="en-US" sz="2600" dirty="0"/>
              <a:t>Online e-commerce platforms display large volumes of product data that are not easily available in structured formats</a:t>
            </a:r>
          </a:p>
          <a:p>
            <a:r>
              <a:rPr lang="en-US" sz="2600" dirty="0"/>
              <a:t>Manual data collection is time-consuming, inefficient, and prone to errors</a:t>
            </a:r>
          </a:p>
          <a:p>
            <a:r>
              <a:rPr lang="en-US" sz="2600" dirty="0"/>
              <a:t>Businesses and analysts require organized product data for </a:t>
            </a:r>
            <a:r>
              <a:rPr lang="en-US" sz="2600" b="1" dirty="0"/>
              <a:t>price analysis, market comparison, and trend identification</a:t>
            </a:r>
          </a:p>
          <a:p>
            <a:endParaRPr lang="en-US" sz="2600" dirty="0"/>
          </a:p>
          <a:p>
            <a:r>
              <a:rPr lang="en-US" sz="3400" b="1" dirty="0"/>
              <a:t>Use Case</a:t>
            </a:r>
          </a:p>
          <a:p>
            <a:r>
              <a:rPr lang="en-US" sz="2600" dirty="0"/>
              <a:t>Automating the extraction of product information such as </a:t>
            </a:r>
            <a:r>
              <a:rPr lang="en-US" sz="2600" b="1" dirty="0"/>
              <a:t>product name, price, ratings, brand, and specifications</a:t>
            </a:r>
            <a:endParaRPr lang="en-US" sz="2600" dirty="0"/>
          </a:p>
          <a:p>
            <a:r>
              <a:rPr lang="en-US" sz="2600" dirty="0"/>
              <a:t>Enabling </a:t>
            </a:r>
            <a:r>
              <a:rPr lang="en-US" sz="2600" b="1" dirty="0"/>
              <a:t>data-driven decisions</a:t>
            </a:r>
            <a:r>
              <a:rPr lang="en-US" sz="2600" dirty="0"/>
              <a:t> like competitive pricing and product comparison</a:t>
            </a:r>
          </a:p>
          <a:p>
            <a:r>
              <a:rPr lang="en-US" sz="2600" dirty="0"/>
              <a:t>Supporting analytical tasks such as </a:t>
            </a:r>
            <a:r>
              <a:rPr lang="en-US" sz="2600" b="1" dirty="0"/>
              <a:t>EDA, visualization, and reporting.</a:t>
            </a:r>
          </a:p>
          <a:p>
            <a:endParaRPr lang="en-US" sz="2600" dirty="0"/>
          </a:p>
          <a:p>
            <a:r>
              <a:rPr lang="en-US" sz="3400" b="1" dirty="0"/>
              <a:t>Domain Understanding</a:t>
            </a:r>
          </a:p>
          <a:p>
            <a:r>
              <a:rPr lang="en-US" sz="2900" b="1" dirty="0"/>
              <a:t>Domain:</a:t>
            </a:r>
            <a:r>
              <a:rPr lang="en-US" sz="2900" dirty="0"/>
              <a:t> E-Commerce / Retail Analytics</a:t>
            </a:r>
          </a:p>
          <a:p>
            <a:r>
              <a:rPr lang="en-US" sz="2900" dirty="0"/>
              <a:t>Focus on collecting real-time product data from online platforms</a:t>
            </a:r>
          </a:p>
          <a:p>
            <a:r>
              <a:rPr lang="en-US" sz="2900" dirty="0"/>
              <a:t>Helps retailers, analysts, and consumers understand market behavior and pricing patterns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181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BD208-1DE6-9D6A-FBA3-0471C9BE8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054600" cy="1548341"/>
          </a:xfrm>
        </p:spPr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</a:rPr>
              <a:t>Objective of the Project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680F7-E34F-50E8-F38F-2D969EE25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7000"/>
            <a:ext cx="10515600" cy="4779963"/>
          </a:xfrm>
        </p:spPr>
        <p:txBody>
          <a:bodyPr>
            <a:normAutofit fontScale="85000" lnSpcReduction="20000"/>
          </a:bodyPr>
          <a:lstStyle/>
          <a:p>
            <a:r>
              <a:rPr lang="en-US" sz="2200" dirty="0"/>
              <a:t>To design and implement a web scraping solution for extracting online product data</a:t>
            </a:r>
          </a:p>
          <a:p>
            <a:r>
              <a:rPr lang="en-US" sz="2200" dirty="0"/>
              <a:t>To collect product details from e-commerce websites automatically</a:t>
            </a:r>
          </a:p>
          <a:p>
            <a:endParaRPr lang="en-US" sz="2200" dirty="0"/>
          </a:p>
          <a:p>
            <a:r>
              <a:rPr lang="en-US" sz="2200" dirty="0"/>
              <a:t>To extract attributes such as product name, brand, price, and ratings</a:t>
            </a:r>
          </a:p>
          <a:p>
            <a:r>
              <a:rPr lang="en-US" sz="2200" dirty="0"/>
              <a:t>To handle unstructured web data efficiently</a:t>
            </a:r>
          </a:p>
          <a:p>
            <a:endParaRPr lang="en-US" sz="2200" dirty="0"/>
          </a:p>
          <a:p>
            <a:r>
              <a:rPr lang="en-US" sz="2200" dirty="0"/>
              <a:t>To clean and preprocess the scraped data</a:t>
            </a:r>
          </a:p>
          <a:p>
            <a:r>
              <a:rPr lang="en-US" sz="2200" dirty="0"/>
              <a:t>To store the extracted data in a structured format (CSV)</a:t>
            </a:r>
          </a:p>
          <a:p>
            <a:endParaRPr lang="en-US" sz="2200" dirty="0"/>
          </a:p>
          <a:p>
            <a:r>
              <a:rPr lang="en-US" sz="2200" dirty="0"/>
              <a:t>To perform exploratory data analysis on the collected data</a:t>
            </a:r>
          </a:p>
          <a:p>
            <a:r>
              <a:rPr lang="en-US" sz="2200" dirty="0"/>
              <a:t>To identify pricing and brand trends in the market</a:t>
            </a:r>
          </a:p>
          <a:p>
            <a:endParaRPr lang="en-US" sz="2200" dirty="0"/>
          </a:p>
          <a:p>
            <a:r>
              <a:rPr lang="en-US" sz="2200" dirty="0"/>
              <a:t>To visualize insights using charts and graphs</a:t>
            </a:r>
          </a:p>
          <a:p>
            <a:r>
              <a:rPr lang="en-US" sz="2200" dirty="0"/>
              <a:t>To support data-driven decision-making using the analyzed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454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CFB3F-ED72-17E5-7BD6-80767535D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</a:rPr>
              <a:t>Web Scraping – Details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F3601-0894-ACFF-303A-D84B56114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02267"/>
            <a:ext cx="10515600" cy="4974696"/>
          </a:xfrm>
        </p:spPr>
        <p:txBody>
          <a:bodyPr>
            <a:normAutofit fontScale="47500" lnSpcReduction="20000"/>
          </a:bodyPr>
          <a:lstStyle/>
          <a:p>
            <a:r>
              <a:rPr lang="en-US" sz="3600" b="1" dirty="0"/>
              <a:t>Websites Used</a:t>
            </a:r>
            <a:endParaRPr lang="en-US" sz="3600" dirty="0"/>
          </a:p>
          <a:p>
            <a:r>
              <a:rPr lang="en-US" dirty="0"/>
              <a:t>Flipkart</a:t>
            </a:r>
          </a:p>
          <a:p>
            <a:r>
              <a:rPr lang="en-US" dirty="0"/>
              <a:t>Web: https://www.flipkart.com/search?q=refrigerators&amp;otracker=search&amp;otracker1=search&amp;marketplace=FLIPKART&amp;as-show=on&amp;as=off</a:t>
            </a:r>
          </a:p>
          <a:p>
            <a:r>
              <a:rPr lang="en-US" dirty="0"/>
              <a:t>Product category pages related to appliances</a:t>
            </a:r>
          </a:p>
          <a:p>
            <a:r>
              <a:rPr lang="en-US" sz="3600" b="1" dirty="0"/>
              <a:t>Tools &amp; Libraries</a:t>
            </a:r>
            <a:endParaRPr lang="en-US" sz="3600" dirty="0"/>
          </a:p>
          <a:p>
            <a:r>
              <a:rPr lang="en-US" dirty="0"/>
              <a:t>Python</a:t>
            </a:r>
          </a:p>
          <a:p>
            <a:r>
              <a:rPr lang="en-US" dirty="0"/>
              <a:t>Requests</a:t>
            </a:r>
          </a:p>
          <a:p>
            <a:r>
              <a:rPr lang="en-US" dirty="0" err="1"/>
              <a:t>BeautifulSoup</a:t>
            </a:r>
            <a:endParaRPr lang="en-US" dirty="0"/>
          </a:p>
          <a:p>
            <a:r>
              <a:rPr lang="en-US" dirty="0"/>
              <a:t>Pandas , </a:t>
            </a:r>
            <a:r>
              <a:rPr lang="en-US" dirty="0" err="1"/>
              <a:t>Numpy</a:t>
            </a:r>
            <a:r>
              <a:rPr lang="en-US" dirty="0"/>
              <a:t>, Visualizations</a:t>
            </a:r>
          </a:p>
          <a:p>
            <a:r>
              <a:rPr lang="en-US" sz="3600" b="1" dirty="0"/>
              <a:t>Process Followed</a:t>
            </a:r>
            <a:endParaRPr lang="en-US" sz="3600" dirty="0"/>
          </a:p>
          <a:p>
            <a:r>
              <a:rPr lang="en-US" dirty="0"/>
              <a:t>Identified the target product category and relevant web pages</a:t>
            </a:r>
          </a:p>
          <a:p>
            <a:r>
              <a:rPr lang="en-US" dirty="0"/>
              <a:t>Sent HTTP requests to fetch web page content</a:t>
            </a:r>
          </a:p>
          <a:p>
            <a:r>
              <a:rPr lang="en-US" dirty="0"/>
              <a:t>Parsed HTML using </a:t>
            </a:r>
            <a:r>
              <a:rPr lang="en-US" dirty="0" err="1"/>
              <a:t>BeautifulSoup</a:t>
            </a:r>
            <a:endParaRPr lang="en-US" dirty="0"/>
          </a:p>
          <a:p>
            <a:r>
              <a:rPr lang="en-US" dirty="0"/>
              <a:t>Extracted required product details such as name, price, ratings, and brand</a:t>
            </a:r>
          </a:p>
          <a:p>
            <a:r>
              <a:rPr lang="en-US" dirty="0"/>
              <a:t>Handled missing and inconsistent data</a:t>
            </a:r>
          </a:p>
          <a:p>
            <a:r>
              <a:rPr lang="en-US" dirty="0"/>
              <a:t>Stored extracted data into a structured CSV file</a:t>
            </a:r>
          </a:p>
          <a:p>
            <a:r>
              <a:rPr lang="en-US" dirty="0"/>
              <a:t>Verified and cleaned the data for further analysis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6F44F9-7153-E93E-85AB-7E4DAE7BE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096030"/>
            <a:ext cx="4817533" cy="408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334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5128-61CA-0D6D-CDC1-EB335861A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AF94C-7D84-AF54-6101-DAF8C388B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8A7D4B-766E-DC0C-9A58-555577EB8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9"/>
            <a:ext cx="12192000" cy="685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243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7F422-196C-04CB-2DE9-62E34D285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5608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rgbClr val="FF0000"/>
                </a:solidFill>
              </a:rPr>
              <a:t>Flipkart:Cleaned_Refrigerators</a:t>
            </a:r>
            <a:r>
              <a:rPr lang="en-US" sz="2800" dirty="0">
                <a:solidFill>
                  <a:srgbClr val="FF0000"/>
                </a:solidFill>
              </a:rPr>
              <a:t>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D6877-2B9C-2B59-14B5-C18946453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29267"/>
            <a:ext cx="10515600" cy="484769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64F251-3095-867D-3AAB-062FF534C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329267"/>
            <a:ext cx="10515600" cy="484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2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9009E-FA25-16D4-81F8-79D20F8A3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5742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Summary of the Data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685BB-07DD-C0D1-8FE0-762264325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82133"/>
            <a:ext cx="10515600" cy="5194830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The dataset was collected through automated web scraping from an e-commerce website</a:t>
            </a:r>
          </a:p>
          <a:p>
            <a:r>
              <a:rPr lang="en-US" sz="2000" dirty="0"/>
              <a:t>It contains detailed information about products in a selected category</a:t>
            </a:r>
          </a:p>
          <a:p>
            <a:endParaRPr lang="en-US" sz="2000" dirty="0"/>
          </a:p>
          <a:p>
            <a:r>
              <a:rPr lang="en-US" sz="2000" dirty="0"/>
              <a:t>Key attributes include </a:t>
            </a:r>
            <a:r>
              <a:rPr lang="en-US" sz="2000" b="1" dirty="0"/>
              <a:t>product name, brand, price, ratings, reviews, and specifications</a:t>
            </a:r>
            <a:endParaRPr lang="en-US" sz="2000" dirty="0"/>
          </a:p>
          <a:p>
            <a:r>
              <a:rPr lang="en-US" sz="2000" dirty="0"/>
              <a:t>The data initially contained missing and inconsistent values</a:t>
            </a:r>
          </a:p>
          <a:p>
            <a:endParaRPr lang="en-US" sz="2000" dirty="0"/>
          </a:p>
          <a:p>
            <a:r>
              <a:rPr lang="en-US" sz="2000" dirty="0"/>
              <a:t>Data cleaning and preprocessing were performed to improve data quality</a:t>
            </a:r>
          </a:p>
          <a:p>
            <a:r>
              <a:rPr lang="en-US" sz="2000" dirty="0"/>
              <a:t>Duplicate and irrelevant entries were removed</a:t>
            </a:r>
          </a:p>
          <a:p>
            <a:endParaRPr lang="en-US" sz="2000" dirty="0"/>
          </a:p>
          <a:p>
            <a:r>
              <a:rPr lang="en-US" sz="2000" dirty="0"/>
              <a:t>The final dataset is structured and stored in CSV format</a:t>
            </a:r>
          </a:p>
          <a:p>
            <a:r>
              <a:rPr lang="en-US" sz="2000" dirty="0"/>
              <a:t>The dataset is suitable for exploratory data analysis and visualization</a:t>
            </a:r>
          </a:p>
          <a:p>
            <a:endParaRPr lang="en-US" sz="2000" dirty="0"/>
          </a:p>
          <a:p>
            <a:r>
              <a:rPr lang="en-US" sz="2000" dirty="0"/>
              <a:t>It helps in understanding pricing patterns and brand distribution</a:t>
            </a:r>
          </a:p>
          <a:p>
            <a:r>
              <a:rPr lang="en-US" sz="2000" dirty="0"/>
              <a:t>The cleaned data supports further analytical and predictive tasks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407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4618-A9D4-14C9-7EF0-D6E0E7A1E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7275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Exploratory Data Analysis (EDA)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6E8E4-E2C4-409D-E77E-8D77380EE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24467"/>
            <a:ext cx="10515600" cy="5152496"/>
          </a:xfrm>
        </p:spPr>
        <p:txBody>
          <a:bodyPr>
            <a:normAutofit fontScale="55000" lnSpcReduction="20000"/>
          </a:bodyPr>
          <a:lstStyle/>
          <a:p>
            <a:r>
              <a:rPr lang="en-US" sz="3600" b="1" dirty="0"/>
              <a:t>A. Data Cleaning Steps</a:t>
            </a:r>
          </a:p>
          <a:p>
            <a:r>
              <a:rPr lang="en-US" dirty="0"/>
              <a:t>Removed duplicate product records to avoid repeated analysis</a:t>
            </a:r>
          </a:p>
          <a:p>
            <a:r>
              <a:rPr lang="en-US" dirty="0"/>
              <a:t>Handled missing values in </a:t>
            </a:r>
            <a:r>
              <a:rPr lang="en-US" b="1" dirty="0"/>
              <a:t>Price, Rating, and Capacity</a:t>
            </a:r>
            <a:r>
              <a:rPr lang="en-US" dirty="0"/>
              <a:t> columns</a:t>
            </a:r>
          </a:p>
          <a:p>
            <a:r>
              <a:rPr lang="en-US" dirty="0"/>
              <a:t>Cleaned the </a:t>
            </a:r>
            <a:r>
              <a:rPr lang="en-US" b="1" dirty="0"/>
              <a:t>Price</a:t>
            </a:r>
            <a:r>
              <a:rPr lang="en-US" dirty="0"/>
              <a:t> column by removing currency symbols and commas</a:t>
            </a:r>
          </a:p>
          <a:p>
            <a:r>
              <a:rPr lang="en-US" dirty="0"/>
              <a:t>Converted </a:t>
            </a:r>
            <a:r>
              <a:rPr lang="en-US" b="1" dirty="0"/>
              <a:t>Price, Rating, and Capacity</a:t>
            </a:r>
            <a:r>
              <a:rPr lang="en-US" dirty="0"/>
              <a:t> columns to numeric data types</a:t>
            </a:r>
          </a:p>
          <a:p>
            <a:r>
              <a:rPr lang="en-US" dirty="0"/>
              <a:t>Standardized text values in </a:t>
            </a:r>
            <a:r>
              <a:rPr lang="en-US" b="1" dirty="0" err="1"/>
              <a:t>Refrigerator_Brands</a:t>
            </a:r>
            <a:r>
              <a:rPr lang="en-US" dirty="0"/>
              <a:t> and </a:t>
            </a:r>
            <a:r>
              <a:rPr lang="en-US" b="1" dirty="0"/>
              <a:t>Fridge_type</a:t>
            </a:r>
            <a:endParaRPr lang="en-US" dirty="0"/>
          </a:p>
          <a:p>
            <a:r>
              <a:rPr lang="en-US" dirty="0"/>
              <a:t>Removed inconsistent and invalid entries</a:t>
            </a:r>
          </a:p>
          <a:p>
            <a:r>
              <a:rPr lang="en-US" dirty="0"/>
              <a:t>Renamed column names for clarity and consistency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3600" b="1" dirty="0"/>
              <a:t>B.</a:t>
            </a:r>
            <a:r>
              <a:rPr lang="en-US" b="1" dirty="0"/>
              <a:t> </a:t>
            </a:r>
            <a:r>
              <a:rPr lang="en-US" sz="3600" b="1" dirty="0"/>
              <a:t>Data Manipulation Steps</a:t>
            </a:r>
          </a:p>
          <a:p>
            <a:r>
              <a:rPr lang="en-US" dirty="0"/>
              <a:t>Grouped data by </a:t>
            </a:r>
            <a:r>
              <a:rPr lang="en-US" b="1" dirty="0" err="1"/>
              <a:t>Refrigerator_Brands</a:t>
            </a:r>
            <a:r>
              <a:rPr lang="en-US" dirty="0"/>
              <a:t> to analyze brand-wise trends</a:t>
            </a:r>
          </a:p>
          <a:p>
            <a:r>
              <a:rPr lang="en-US" dirty="0"/>
              <a:t>Grouped data by </a:t>
            </a:r>
            <a:r>
              <a:rPr lang="en-US" b="1" dirty="0"/>
              <a:t>Fridge_type</a:t>
            </a:r>
            <a:r>
              <a:rPr lang="en-US" dirty="0"/>
              <a:t> to compare different refrigerator types</a:t>
            </a:r>
          </a:p>
          <a:p>
            <a:r>
              <a:rPr lang="en-US" dirty="0"/>
              <a:t>Created price ranges for better price distribution analysis</a:t>
            </a:r>
          </a:p>
          <a:p>
            <a:r>
              <a:rPr lang="en-US" dirty="0"/>
              <a:t>Sorted products based on </a:t>
            </a:r>
            <a:r>
              <a:rPr lang="en-US" b="1" dirty="0"/>
              <a:t>Price</a:t>
            </a:r>
            <a:r>
              <a:rPr lang="en-US" dirty="0"/>
              <a:t> and </a:t>
            </a:r>
            <a:r>
              <a:rPr lang="en-US" b="1" dirty="0"/>
              <a:t>Rating</a:t>
            </a:r>
            <a:endParaRPr lang="en-US" dirty="0"/>
          </a:p>
          <a:p>
            <a:r>
              <a:rPr lang="en-US" dirty="0"/>
              <a:t>Filtered records to focus on commonly available brands and types</a:t>
            </a:r>
          </a:p>
          <a:p>
            <a:r>
              <a:rPr lang="en-US" dirty="0"/>
              <a:t>Prepared aggregated datasets for visualization and insights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675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9E3D3-39FF-4EA0-95DC-186A2231D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940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Exploratory Data Analysis (EDA)</a:t>
            </a: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5551C-B7C8-A0F2-92B7-6300AF655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34534"/>
            <a:ext cx="10515600" cy="5042429"/>
          </a:xfrm>
        </p:spPr>
        <p:txBody>
          <a:bodyPr>
            <a:normAutofit fontScale="77500" lnSpcReduction="20000"/>
          </a:bodyPr>
          <a:lstStyle/>
          <a:p>
            <a:r>
              <a:rPr lang="en-US" sz="2600" b="1" dirty="0"/>
              <a:t>C</a:t>
            </a:r>
            <a:r>
              <a:rPr lang="en-US" sz="3200" b="1" dirty="0"/>
              <a:t>. </a:t>
            </a:r>
            <a:r>
              <a:rPr lang="en-US" sz="2600" b="1" dirty="0"/>
              <a:t>Univariate Analysis Steps</a:t>
            </a:r>
          </a:p>
          <a:p>
            <a:r>
              <a:rPr lang="en-US" sz="2600" dirty="0"/>
              <a:t>Analyzed </a:t>
            </a:r>
            <a:r>
              <a:rPr lang="en-US" sz="2600" b="1" dirty="0"/>
              <a:t>Price</a:t>
            </a:r>
            <a:r>
              <a:rPr lang="en-US" sz="2600" dirty="0"/>
              <a:t> distribution to understand market price range</a:t>
            </a:r>
          </a:p>
          <a:p>
            <a:r>
              <a:rPr lang="en-US" sz="2600" dirty="0"/>
              <a:t>Studied </a:t>
            </a:r>
            <a:r>
              <a:rPr lang="en-US" sz="2600" b="1" dirty="0"/>
              <a:t>Rating</a:t>
            </a:r>
            <a:r>
              <a:rPr lang="en-US" sz="2600" dirty="0"/>
              <a:t> distribution to evaluate customer satisfaction</a:t>
            </a:r>
          </a:p>
          <a:p>
            <a:r>
              <a:rPr lang="en-US" sz="2600" dirty="0"/>
              <a:t>Identified most frequently available </a:t>
            </a:r>
            <a:r>
              <a:rPr lang="en-US" sz="2600" b="1" dirty="0" err="1"/>
              <a:t>Refrigerator_Brands</a:t>
            </a:r>
            <a:endParaRPr lang="en-US" sz="2600" dirty="0"/>
          </a:p>
          <a:p>
            <a:r>
              <a:rPr lang="en-US" sz="2600" dirty="0"/>
              <a:t>Analyzed </a:t>
            </a:r>
            <a:r>
              <a:rPr lang="en-US" sz="2600" b="1" dirty="0"/>
              <a:t>Fridge_type</a:t>
            </a:r>
            <a:r>
              <a:rPr lang="en-US" sz="2600" dirty="0"/>
              <a:t> frequency (Single Door, Double Door, etc.)</a:t>
            </a:r>
          </a:p>
          <a:p>
            <a:r>
              <a:rPr lang="en-US" sz="2600" dirty="0"/>
              <a:t>Examined </a:t>
            </a:r>
            <a:r>
              <a:rPr lang="en-US" sz="2600" b="1" dirty="0"/>
              <a:t>Capacity</a:t>
            </a:r>
            <a:r>
              <a:rPr lang="en-US" sz="2600" dirty="0"/>
              <a:t> distribution to understand popular storage sizes</a:t>
            </a:r>
          </a:p>
          <a:p>
            <a:r>
              <a:rPr lang="en-US" sz="2600" dirty="0"/>
              <a:t>Used bar charts, histograms, and box plots for visualization</a:t>
            </a:r>
          </a:p>
          <a:p>
            <a:pPr marL="114300" indent="0">
              <a:buNone/>
            </a:pPr>
            <a:br>
              <a:rPr lang="en-US" sz="2600" dirty="0"/>
            </a:br>
            <a:endParaRPr lang="en-US" sz="2600" dirty="0"/>
          </a:p>
          <a:p>
            <a:r>
              <a:rPr lang="en-US" sz="2600" b="1" dirty="0"/>
              <a:t>D. Bivariate Analysis Steps</a:t>
            </a:r>
          </a:p>
          <a:p>
            <a:r>
              <a:rPr lang="en-US" sz="2300" dirty="0"/>
              <a:t>Compared </a:t>
            </a:r>
            <a:r>
              <a:rPr lang="en-US" sz="2300" b="1" dirty="0"/>
              <a:t>Price vs </a:t>
            </a:r>
            <a:r>
              <a:rPr lang="en-US" sz="2300" b="1" dirty="0" err="1"/>
              <a:t>Refrigerator_Brands</a:t>
            </a:r>
            <a:r>
              <a:rPr lang="en-US" sz="2300" dirty="0"/>
              <a:t> to identify premium brands</a:t>
            </a:r>
          </a:p>
          <a:p>
            <a:r>
              <a:rPr lang="en-US" sz="2300" dirty="0"/>
              <a:t>Analyzed </a:t>
            </a:r>
            <a:r>
              <a:rPr lang="en-US" sz="2300" b="1" dirty="0"/>
              <a:t>Price vs Fridge_type</a:t>
            </a:r>
            <a:r>
              <a:rPr lang="en-US" sz="2300" dirty="0"/>
              <a:t> to understand cost differences by type</a:t>
            </a:r>
          </a:p>
          <a:p>
            <a:r>
              <a:rPr lang="en-US" sz="2300" dirty="0"/>
              <a:t>Studied </a:t>
            </a:r>
            <a:r>
              <a:rPr lang="en-US" sz="2300" b="1" dirty="0"/>
              <a:t>Rating vs </a:t>
            </a:r>
            <a:r>
              <a:rPr lang="en-US" sz="2300" b="1" dirty="0" err="1"/>
              <a:t>Refrigerator_Brands</a:t>
            </a:r>
            <a:r>
              <a:rPr lang="en-US" sz="2300" dirty="0"/>
              <a:t> to compare brand performance</a:t>
            </a:r>
          </a:p>
          <a:p>
            <a:r>
              <a:rPr lang="en-US" sz="2300" dirty="0"/>
              <a:t>Compared </a:t>
            </a:r>
            <a:r>
              <a:rPr lang="en-US" sz="2300" b="1" dirty="0"/>
              <a:t>Capacity vs Price</a:t>
            </a:r>
            <a:r>
              <a:rPr lang="en-US" sz="2300" dirty="0"/>
              <a:t> to observe how storage impacts pricing</a:t>
            </a:r>
          </a:p>
          <a:p>
            <a:r>
              <a:rPr lang="en-US" sz="2300" dirty="0"/>
              <a:t>Used bar charts and scatter plots to identify relationships and trends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56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88DB-2A2F-0D5E-14DF-E5B5FE5CF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794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Exploratory Data Analysis (EDA)</a:t>
            </a: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65FDD-2187-6557-246D-C32A21718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53068"/>
            <a:ext cx="10515600" cy="4923895"/>
          </a:xfrm>
        </p:spPr>
        <p:txBody>
          <a:bodyPr>
            <a:normAutofit/>
          </a:bodyPr>
          <a:lstStyle/>
          <a:p>
            <a:r>
              <a:rPr lang="en-US" sz="2600" b="1" dirty="0"/>
              <a:t>E. Multivariate Analysis Steps</a:t>
            </a:r>
          </a:p>
          <a:p>
            <a:r>
              <a:rPr lang="en-US" sz="2200" dirty="0"/>
              <a:t>Analyzed </a:t>
            </a:r>
            <a:r>
              <a:rPr lang="en-US" sz="2200" b="1" dirty="0"/>
              <a:t>Price, Rating, and Capacity</a:t>
            </a:r>
            <a:r>
              <a:rPr lang="en-US" sz="2200" dirty="0"/>
              <a:t> together to identify value-for-money products</a:t>
            </a:r>
          </a:p>
          <a:p>
            <a:r>
              <a:rPr lang="en-US" sz="2200" dirty="0"/>
              <a:t>Studied interaction between </a:t>
            </a:r>
            <a:r>
              <a:rPr lang="en-US" sz="2200" b="1" dirty="0" err="1"/>
              <a:t>Refrigerator_Brands</a:t>
            </a:r>
            <a:r>
              <a:rPr lang="en-US" sz="2200" b="1" dirty="0"/>
              <a:t>, Fridge_type, and Price</a:t>
            </a:r>
          </a:p>
          <a:p>
            <a:endParaRPr lang="en-US" sz="2200" dirty="0"/>
          </a:p>
          <a:p>
            <a:r>
              <a:rPr lang="en-US" sz="2200" dirty="0"/>
              <a:t>Compared how different brands price similar </a:t>
            </a:r>
            <a:r>
              <a:rPr lang="en-US" sz="2200" b="1" dirty="0"/>
              <a:t>Fridge_type</a:t>
            </a:r>
            <a:r>
              <a:rPr lang="en-US" sz="2200" dirty="0"/>
              <a:t> and </a:t>
            </a:r>
            <a:r>
              <a:rPr lang="en-US" sz="2200" b="1" dirty="0"/>
              <a:t>Capacity</a:t>
            </a:r>
            <a:endParaRPr lang="en-US" sz="2200" dirty="0"/>
          </a:p>
          <a:p>
            <a:r>
              <a:rPr lang="en-US" sz="2200" dirty="0"/>
              <a:t>Used </a:t>
            </a:r>
            <a:r>
              <a:rPr lang="en-US" sz="2200" b="1" dirty="0"/>
              <a:t>heatmaps</a:t>
            </a:r>
            <a:r>
              <a:rPr lang="en-US" sz="2200" dirty="0"/>
              <a:t> to understand correlations between numeric variables</a:t>
            </a:r>
          </a:p>
          <a:p>
            <a:endParaRPr lang="en-US" sz="2200" dirty="0"/>
          </a:p>
          <a:p>
            <a:r>
              <a:rPr lang="en-US" sz="2200" dirty="0"/>
              <a:t>Identified patterns where higher capacity and premium brands result in higher prices</a:t>
            </a:r>
          </a:p>
          <a:p>
            <a:r>
              <a:rPr lang="en-US" sz="2200" dirty="0"/>
              <a:t>Helped understand combined impact of multiple features on product pricing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247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266FE-0315-E2DB-5183-FE303EC04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320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Visualizations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E87FA-2B6F-4F2D-AE34-82D2E4015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82133"/>
            <a:ext cx="10439400" cy="519483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1.Univariate Analysis</a:t>
            </a:r>
          </a:p>
          <a:p>
            <a:pPr marL="114300" indent="0">
              <a:buNone/>
            </a:pP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719EFE-D271-D77F-BB5D-3DE5971E8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1524000"/>
            <a:ext cx="5283200" cy="465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818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E99DC-26E6-2286-1B19-44CB65DD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Univariate Analyis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3E385-F454-049C-27F8-1C0D0631A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82354D-26A1-4698-3E29-6581B094A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92" y="1921933"/>
            <a:ext cx="7325747" cy="425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55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E1B68-DFA0-BF70-20E5-5F46F030A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Univariate Analyis</a:t>
            </a:r>
            <a:endParaRPr lang="en-US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422D3-7339-C065-027F-73A9BA903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34022-F0FD-C4B9-8984-A374C9FEB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1825625"/>
            <a:ext cx="6982799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310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2873A-17EB-FC59-CECD-D45C47F4A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Univariate Analyis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BC93B-F0E1-E184-8964-55696E01D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B5E23F-883D-C175-0F76-F4FCCE839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67" y="1825625"/>
            <a:ext cx="71638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789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3BF6-1F8F-8FCF-E940-0DF825AA7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Boxplot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025E9-E3DE-F500-0BF4-86D61777D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CA29FC-51EF-7803-05EB-3EB82C09A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33" y="1761066"/>
            <a:ext cx="7095067" cy="444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289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FBA17-E720-A1A2-F1FC-4F8256624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78194-77EC-25BB-65F3-5EF2F3DAB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415C5E-3658-7712-8D11-A2C76A19C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2400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120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DBFE-864E-3DEB-B105-5BB1EB500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Top 10 Brands by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62EAD-E155-03CC-252F-B4EBA2CE0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97DD16-D3EA-30CB-5823-BA191080D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852611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92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58AE-FC64-7730-BE55-CBD68BF11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Distribution of Fridge Types: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6DF5A-8786-8411-7C48-1D7C584EF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9192AC-8A97-C68D-33EE-89698D852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815245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476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000FF-58CE-1CEF-05AA-3A3D23246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400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2.Bivariate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C4C03-F7A5-8A01-3286-654032A24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227667"/>
            <a:ext cx="10439400" cy="494929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F1BF66-0B73-8CD8-D49D-3BA0D4608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27667"/>
            <a:ext cx="8002117" cy="494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347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FBF23-5D7B-2B3E-8BCA-4122387B7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Capacity vs Price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CB9AF-9BE1-71FD-0908-A9B796F63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5FACFE-F465-A09D-EB0B-EB5A23EA1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7411484" cy="421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9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2F4CE-F60C-7C69-05E6-DEE363E21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327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3.Multivariate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F4405-DA90-6CF6-BC1C-C130E42D7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68400"/>
            <a:ext cx="10515600" cy="5008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C357E5-0CA7-8735-99D4-BFA80E163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68399"/>
            <a:ext cx="6426200" cy="500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9626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E09B7-B8C4-DF75-C262-F97CBAD44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Price vs Rating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AD2A2-7886-A857-7F1F-30A8A94C9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566F97-F1DF-CF21-DFDB-28142906E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5020733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321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2268C-E980-E780-118F-F9D7C1EB5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Price vs Rating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C4D84-5F31-61AB-1732-FCB24F0E8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25ECA0-10DC-38B2-5849-F2427D8E5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3467"/>
            <a:ext cx="5257800" cy="42634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701130-18B6-C535-BF86-A5AC73A14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0" y="1825625"/>
            <a:ext cx="4919133" cy="419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4063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657A1-A5C3-68A1-99D6-0F847DEA5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CORELATION - HEATMAP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CF469-7179-3E61-D739-3681FD5A7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EFC365-6A16-9421-66CE-8F3E2C8DD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10515600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64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2D5ED-FDDC-851C-515C-81D107D7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Key Business Questions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E2CB0-E5BB-CDAB-29AE-3F73A3A7B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7533"/>
            <a:ext cx="10515600" cy="5169430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Which </a:t>
            </a:r>
            <a:r>
              <a:rPr lang="en-US" sz="2000" b="1" dirty="0" err="1"/>
              <a:t>Refrigerator_Brands</a:t>
            </a:r>
            <a:r>
              <a:rPr lang="en-US" sz="2000" dirty="0"/>
              <a:t> offer the most products in the market?</a:t>
            </a:r>
          </a:p>
          <a:p>
            <a:r>
              <a:rPr lang="en-US" sz="2000" dirty="0"/>
              <a:t>How does </a:t>
            </a:r>
            <a:r>
              <a:rPr lang="en-US" sz="2000" b="1" dirty="0"/>
              <a:t>Price</a:t>
            </a:r>
            <a:r>
              <a:rPr lang="en-US" sz="2000" dirty="0"/>
              <a:t> vary across different </a:t>
            </a:r>
            <a:r>
              <a:rPr lang="en-US" sz="2000" b="1" dirty="0" err="1"/>
              <a:t>Refrigerator_Brands</a:t>
            </a:r>
            <a:r>
              <a:rPr lang="en-US" sz="2000" dirty="0"/>
              <a:t>?</a:t>
            </a:r>
          </a:p>
          <a:p>
            <a:endParaRPr lang="en-US" sz="2000" dirty="0"/>
          </a:p>
          <a:p>
            <a:r>
              <a:rPr lang="en-US" sz="2000" dirty="0"/>
              <a:t>Which </a:t>
            </a:r>
            <a:r>
              <a:rPr lang="en-US" sz="2000" b="1" dirty="0"/>
              <a:t>Fridge_type</a:t>
            </a:r>
            <a:r>
              <a:rPr lang="en-US" sz="2000" dirty="0"/>
              <a:t> is most commonly available and preferred?</a:t>
            </a:r>
          </a:p>
          <a:p>
            <a:r>
              <a:rPr lang="en-US" sz="2000" dirty="0"/>
              <a:t>How does </a:t>
            </a:r>
            <a:r>
              <a:rPr lang="en-US" sz="2000" b="1" dirty="0"/>
              <a:t>Fridge_type</a:t>
            </a:r>
            <a:r>
              <a:rPr lang="en-US" sz="2000" dirty="0"/>
              <a:t> impact the </a:t>
            </a:r>
            <a:r>
              <a:rPr lang="en-US" sz="2000" b="1" dirty="0"/>
              <a:t>Price</a:t>
            </a:r>
            <a:r>
              <a:rPr lang="en-US" sz="2000" dirty="0"/>
              <a:t> of refrigerators?</a:t>
            </a:r>
          </a:p>
          <a:p>
            <a:endParaRPr lang="en-US" sz="2000" dirty="0"/>
          </a:p>
          <a:p>
            <a:r>
              <a:rPr lang="en-US" sz="2000" dirty="0"/>
              <a:t>What is the relationship between </a:t>
            </a:r>
            <a:r>
              <a:rPr lang="en-US" sz="2000" b="1" dirty="0"/>
              <a:t>Price</a:t>
            </a:r>
            <a:r>
              <a:rPr lang="en-US" sz="2000" dirty="0"/>
              <a:t> and </a:t>
            </a:r>
            <a:r>
              <a:rPr lang="en-US" sz="2000" b="1" dirty="0"/>
              <a:t>Capacity</a:t>
            </a:r>
            <a:r>
              <a:rPr lang="en-US" sz="2000" dirty="0"/>
              <a:t>?</a:t>
            </a:r>
          </a:p>
          <a:p>
            <a:r>
              <a:rPr lang="en-US" sz="2000" dirty="0"/>
              <a:t>Which </a:t>
            </a:r>
            <a:r>
              <a:rPr lang="en-US" sz="2000" b="1" dirty="0" err="1"/>
              <a:t>Refrigerator_Brands</a:t>
            </a:r>
            <a:r>
              <a:rPr lang="en-US" sz="2000" dirty="0"/>
              <a:t> receive higher </a:t>
            </a:r>
            <a:r>
              <a:rPr lang="en-US" sz="2000" b="1" dirty="0"/>
              <a:t>Ratings</a:t>
            </a:r>
            <a:r>
              <a:rPr lang="en-US" sz="2000" dirty="0"/>
              <a:t> from customers?</a:t>
            </a:r>
          </a:p>
          <a:p>
            <a:endParaRPr lang="en-US" sz="2000" dirty="0"/>
          </a:p>
          <a:p>
            <a:r>
              <a:rPr lang="en-US" sz="2000" dirty="0"/>
              <a:t>Do higher-priced refrigerators always have better </a:t>
            </a:r>
            <a:r>
              <a:rPr lang="en-US" sz="2000" b="1" dirty="0"/>
              <a:t>Ratings</a:t>
            </a:r>
            <a:r>
              <a:rPr lang="en-US" sz="2000" dirty="0"/>
              <a:t>?</a:t>
            </a:r>
          </a:p>
          <a:p>
            <a:r>
              <a:rPr lang="en-US" sz="2000" dirty="0"/>
              <a:t>Which combinations of </a:t>
            </a:r>
            <a:r>
              <a:rPr lang="en-US" sz="2000" b="1" dirty="0"/>
              <a:t>Brand, Fridge_type, and Capacity</a:t>
            </a:r>
            <a:r>
              <a:rPr lang="en-US" sz="2000" dirty="0"/>
              <a:t> provide better value for money?</a:t>
            </a:r>
          </a:p>
          <a:p>
            <a:endParaRPr lang="en-US" sz="2000" dirty="0"/>
          </a:p>
          <a:p>
            <a:r>
              <a:rPr lang="en-US" sz="2000" dirty="0"/>
              <a:t>What price range is most common across different refrigerator types?</a:t>
            </a:r>
          </a:p>
          <a:p>
            <a:r>
              <a:rPr lang="en-US" sz="2000" dirty="0"/>
              <a:t>How can this data help businesses optimize pricing and product positioning?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95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922FE-4954-6418-5386-6D9428AB1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1875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Conclusion (Key Findings Overall)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F52E1-722D-3BC7-50A1-53373E64E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787400"/>
            <a:ext cx="10515600" cy="5621867"/>
          </a:xfrm>
        </p:spPr>
        <p:txBody>
          <a:bodyPr>
            <a:normAutofit lnSpcReduction="10000"/>
          </a:bodyPr>
          <a:lstStyle/>
          <a:p>
            <a:r>
              <a:rPr lang="en-US" sz="1900" dirty="0"/>
              <a:t>The web scraping process successfully collected structured refrigerator data from an e-commerce platform</a:t>
            </a:r>
          </a:p>
          <a:p>
            <a:r>
              <a:rPr lang="en-US" sz="1900" b="1" dirty="0" err="1"/>
              <a:t>Refrigerator_Brands</a:t>
            </a:r>
            <a:r>
              <a:rPr lang="en-US" sz="1900" dirty="0"/>
              <a:t> show significant variation in product availability and pricing</a:t>
            </a:r>
          </a:p>
          <a:p>
            <a:endParaRPr lang="en-US" sz="1900" dirty="0"/>
          </a:p>
          <a:p>
            <a:r>
              <a:rPr lang="en-US" sz="1900" b="1" dirty="0"/>
              <a:t>Price</a:t>
            </a:r>
            <a:r>
              <a:rPr lang="en-US" sz="1900" dirty="0"/>
              <a:t> increases with higher </a:t>
            </a:r>
            <a:r>
              <a:rPr lang="en-US" sz="1900" b="1" dirty="0"/>
              <a:t>Capacity</a:t>
            </a:r>
            <a:r>
              <a:rPr lang="en-US" sz="1900" dirty="0"/>
              <a:t> and advanced </a:t>
            </a:r>
            <a:r>
              <a:rPr lang="en-US" sz="1900" b="1" dirty="0"/>
              <a:t>Fridge_type</a:t>
            </a:r>
            <a:r>
              <a:rPr lang="en-US" sz="1900" dirty="0"/>
              <a:t> models</a:t>
            </a:r>
          </a:p>
          <a:p>
            <a:r>
              <a:rPr lang="en-US" sz="1900" dirty="0"/>
              <a:t>Double Door and Multi-Door refrigerators are generally priced higher than Single Door models</a:t>
            </a:r>
          </a:p>
          <a:p>
            <a:endParaRPr lang="en-US" sz="1900" dirty="0"/>
          </a:p>
          <a:p>
            <a:r>
              <a:rPr lang="en-US" sz="1900" dirty="0"/>
              <a:t>Premium brands tend to offer refrigerators with higher prices and better features</a:t>
            </a:r>
          </a:p>
          <a:p>
            <a:r>
              <a:rPr lang="en-US" sz="1900" b="1" dirty="0"/>
              <a:t>Ratings</a:t>
            </a:r>
            <a:r>
              <a:rPr lang="en-US" sz="1900" dirty="0"/>
              <a:t> do not always increase with higher price, indicating value-for-money options</a:t>
            </a:r>
          </a:p>
          <a:p>
            <a:endParaRPr lang="en-US" sz="1900" dirty="0"/>
          </a:p>
          <a:p>
            <a:r>
              <a:rPr lang="en-US" sz="1900" dirty="0"/>
              <a:t>Certain brands provide better-rated products within mid-price ranges</a:t>
            </a:r>
          </a:p>
          <a:p>
            <a:r>
              <a:rPr lang="en-US" sz="1900" dirty="0"/>
              <a:t>Multivariate analysis shows that </a:t>
            </a:r>
            <a:r>
              <a:rPr lang="en-US" sz="1900" b="1" dirty="0"/>
              <a:t>Brand, Fridge_type, and Capacity</a:t>
            </a:r>
            <a:r>
              <a:rPr lang="en-US" sz="1900" dirty="0"/>
              <a:t> together strongly influence pricing</a:t>
            </a:r>
          </a:p>
          <a:p>
            <a:endParaRPr lang="en-US" sz="1900" dirty="0"/>
          </a:p>
          <a:p>
            <a:r>
              <a:rPr lang="en-US" sz="1900" dirty="0"/>
              <a:t>The cleaned dataset enables meaningful analysis and visualization</a:t>
            </a:r>
          </a:p>
          <a:p>
            <a:r>
              <a:rPr lang="en-US" sz="1900" dirty="0"/>
              <a:t>Overall, the project supports data-driven insights for pricing and market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3130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7B130-DACC-71BA-C94D-C89B18D15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91346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Experience &amp; Challenges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52174-E0DA-7DE8-8472-6050B5425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58800"/>
            <a:ext cx="10515600" cy="5618163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endParaRPr lang="en-US" b="1" dirty="0"/>
          </a:p>
          <a:p>
            <a:r>
              <a:rPr lang="en-US" b="1" dirty="0"/>
              <a:t>Experience</a:t>
            </a:r>
          </a:p>
          <a:p>
            <a:r>
              <a:rPr lang="en-US" sz="1900" dirty="0"/>
              <a:t>Gained hands-on experience in real-world </a:t>
            </a:r>
            <a:r>
              <a:rPr lang="en-US" sz="1900" b="1" dirty="0"/>
              <a:t>web scraping using Python</a:t>
            </a:r>
            <a:endParaRPr lang="en-US" sz="1900" dirty="0"/>
          </a:p>
          <a:p>
            <a:r>
              <a:rPr lang="en-US" sz="1900" dirty="0"/>
              <a:t>Learned to work with </a:t>
            </a:r>
            <a:r>
              <a:rPr lang="en-US" sz="1900" b="1" dirty="0"/>
              <a:t>HTML structure, tags, and classes</a:t>
            </a:r>
            <a:endParaRPr lang="en-US" sz="1900" dirty="0"/>
          </a:p>
          <a:p>
            <a:r>
              <a:rPr lang="en-US" sz="1900" dirty="0"/>
              <a:t>Improved skills in </a:t>
            </a:r>
            <a:r>
              <a:rPr lang="en-US" sz="1900" b="1" dirty="0"/>
              <a:t>data cleaning, preprocessing, and EDA</a:t>
            </a:r>
            <a:endParaRPr lang="en-US" sz="1900" dirty="0"/>
          </a:p>
          <a:p>
            <a:r>
              <a:rPr lang="en-US" sz="1900" dirty="0"/>
              <a:t>Understood how to convert </a:t>
            </a:r>
            <a:r>
              <a:rPr lang="en-US" sz="1900" b="1" dirty="0"/>
              <a:t>unstructured web data into structured datasets</a:t>
            </a:r>
            <a:endParaRPr lang="en-US" sz="1900" dirty="0"/>
          </a:p>
          <a:p>
            <a:r>
              <a:rPr lang="en-US" sz="1900" dirty="0"/>
              <a:t>Gained confidence in using </a:t>
            </a:r>
            <a:r>
              <a:rPr lang="en-US" sz="1900" b="1" dirty="0"/>
              <a:t>Pandas, </a:t>
            </a:r>
            <a:r>
              <a:rPr lang="en-US" sz="1900" b="1" dirty="0" err="1"/>
              <a:t>BeautifulSoup</a:t>
            </a:r>
            <a:r>
              <a:rPr lang="en-US" sz="1900" b="1" dirty="0"/>
              <a:t>, and visualization techniques</a:t>
            </a:r>
            <a:endParaRPr lang="en-US" sz="1900" dirty="0"/>
          </a:p>
          <a:p>
            <a:r>
              <a:rPr lang="en-US" sz="1900" dirty="0"/>
              <a:t>Learned to analyze real market data and extract meaningful insights</a:t>
            </a:r>
          </a:p>
          <a:p>
            <a:endParaRPr lang="en-US" sz="1900" dirty="0"/>
          </a:p>
          <a:p>
            <a:r>
              <a:rPr lang="en-US" sz="2600" b="1" dirty="0"/>
              <a:t>Challenges Faced</a:t>
            </a:r>
          </a:p>
          <a:p>
            <a:r>
              <a:rPr lang="en-US" sz="1700" dirty="0"/>
              <a:t>Handling </a:t>
            </a:r>
            <a:r>
              <a:rPr lang="en-US" sz="1700" b="1" dirty="0"/>
              <a:t>dynamic website structures and changing HTML elements</a:t>
            </a:r>
            <a:endParaRPr lang="en-US" sz="1700" dirty="0"/>
          </a:p>
          <a:p>
            <a:r>
              <a:rPr lang="en-US" sz="1700" dirty="0"/>
              <a:t>Dealing with </a:t>
            </a:r>
            <a:r>
              <a:rPr lang="en-US" sz="1700" b="1" dirty="0"/>
              <a:t>missing, inconsistent, and noisy data</a:t>
            </a:r>
            <a:endParaRPr lang="en-US" sz="1700" dirty="0"/>
          </a:p>
          <a:p>
            <a:r>
              <a:rPr lang="en-US" sz="1700" dirty="0"/>
              <a:t>Cleaning price values with symbols and different formats</a:t>
            </a:r>
          </a:p>
          <a:p>
            <a:r>
              <a:rPr lang="en-US" sz="1700" dirty="0"/>
              <a:t>Managing duplicate products during scraping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214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77F5A-8B17-4547-B2CA-14D4AA7C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Experience &amp; Challenges</a:t>
            </a: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F8274-084D-F2C1-0DED-4C08D41DA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03867"/>
            <a:ext cx="10515600" cy="4873096"/>
          </a:xfrm>
        </p:spPr>
        <p:txBody>
          <a:bodyPr/>
          <a:lstStyle/>
          <a:p>
            <a:r>
              <a:rPr lang="en-US" sz="1600" dirty="0"/>
              <a:t>Understanding correct HTML tags and class names for extraction</a:t>
            </a:r>
          </a:p>
          <a:p>
            <a:r>
              <a:rPr lang="en-US" sz="1600" dirty="0"/>
              <a:t>Visualizing large datasets clearly and meaningfully</a:t>
            </a:r>
          </a:p>
          <a:p>
            <a:endParaRPr lang="en-US" sz="1600" dirty="0"/>
          </a:p>
          <a:p>
            <a:r>
              <a:rPr lang="en-US" sz="2400" b="1" dirty="0"/>
              <a:t>How Challenges Were Overcome</a:t>
            </a:r>
          </a:p>
          <a:p>
            <a:r>
              <a:rPr lang="en-US" sz="1600" dirty="0"/>
              <a:t>Inspected web pages carefully using browser developer tools</a:t>
            </a:r>
          </a:p>
          <a:p>
            <a:r>
              <a:rPr lang="en-US" sz="1600" dirty="0"/>
              <a:t>Applied data cleaning techniques using Pandas</a:t>
            </a:r>
          </a:p>
          <a:p>
            <a:r>
              <a:rPr lang="en-US" sz="1600" dirty="0"/>
              <a:t>Used conditional checks and exception handling</a:t>
            </a:r>
          </a:p>
          <a:p>
            <a:r>
              <a:rPr lang="en-US" sz="1600" dirty="0"/>
              <a:t>Performed step-by-step validation of scraped data</a:t>
            </a:r>
          </a:p>
          <a:p>
            <a:r>
              <a:rPr lang="en-US" sz="1600" dirty="0"/>
              <a:t>Used appropriate charts for clear visualization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1418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4760A0-ECB8-4577-AD7D-36FF57314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68"/>
            <a:ext cx="12192000" cy="684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769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1320</Words>
  <Application>Microsoft Office PowerPoint</Application>
  <PresentationFormat>Widescreen</PresentationFormat>
  <Paragraphs>192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Lato Black</vt:lpstr>
      <vt:lpstr>Calibri</vt:lpstr>
      <vt:lpstr>Times New Roman</vt:lpstr>
      <vt:lpstr>Libre Baskerville</vt:lpstr>
      <vt:lpstr>Arial</vt:lpstr>
      <vt:lpstr>Office Theme</vt:lpstr>
      <vt:lpstr>PowerPoint Presentation</vt:lpstr>
      <vt:lpstr>PowerPoint Presentation</vt:lpstr>
      <vt:lpstr>Agenda</vt:lpstr>
      <vt:lpstr>Objective of the Project </vt:lpstr>
      <vt:lpstr>Web Scraping – Details </vt:lpstr>
      <vt:lpstr>PowerPoint Presentation</vt:lpstr>
      <vt:lpstr>Flipkart:Cleaned_Refrigerators Dataset</vt:lpstr>
      <vt:lpstr>Summary of the Data </vt:lpstr>
      <vt:lpstr>Exploratory Data Analysis (EDA) </vt:lpstr>
      <vt:lpstr>Exploratory Data Analysis (EDA)</vt:lpstr>
      <vt:lpstr>Exploratory Data Analysis (EDA)</vt:lpstr>
      <vt:lpstr>Visualizations</vt:lpstr>
      <vt:lpstr>Univariate Analyis</vt:lpstr>
      <vt:lpstr>Univariate Analyis</vt:lpstr>
      <vt:lpstr>Univariate Analyis</vt:lpstr>
      <vt:lpstr>Boxplot</vt:lpstr>
      <vt:lpstr>PowerPoint Presentation</vt:lpstr>
      <vt:lpstr>Top 10 Brands by models</vt:lpstr>
      <vt:lpstr>Distribution of Fridge Types:</vt:lpstr>
      <vt:lpstr>2.Bivariate Analysis</vt:lpstr>
      <vt:lpstr>Capacity vs Price</vt:lpstr>
      <vt:lpstr>3.Multivariate Analysis</vt:lpstr>
      <vt:lpstr>Price vs Rating</vt:lpstr>
      <vt:lpstr>Price vs Rating</vt:lpstr>
      <vt:lpstr>CORELATION - HEATMAP</vt:lpstr>
      <vt:lpstr>Key Business Questions </vt:lpstr>
      <vt:lpstr>Conclusion (Key Findings Overall) </vt:lpstr>
      <vt:lpstr>Experience &amp; Challenges </vt:lpstr>
      <vt:lpstr>Experience &amp; Challenges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NENAVATH NITHISH</cp:lastModifiedBy>
  <cp:revision>2</cp:revision>
  <dcterms:created xsi:type="dcterms:W3CDTF">2021-02-16T05:19:01Z</dcterms:created>
  <dcterms:modified xsi:type="dcterms:W3CDTF">2026-01-31T11:23:08Z</dcterms:modified>
</cp:coreProperties>
</file>